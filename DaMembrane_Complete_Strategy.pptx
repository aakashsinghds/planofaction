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80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758952"/>
          </a:xfrm>
          <a:prstGeom prst="rect">
            <a:avLst/>
          </a:prstGeom>
          <a:solidFill>
            <a:srgbClr val="0B1A29"/>
          </a:solidFill>
          <a:ln w="12700">
            <a:solidFill>
              <a:srgbClr val="0B1A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DaMembrane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Content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Workflow, Blog Structure &amp; Action Plan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560320" cy="914400"/>
          </a:xfrm>
          <a:prstGeom prst="rect">
            <a:avLst/>
          </a:prstGeom>
          <a:solidFill>
            <a:srgbClr val="0B2033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99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Shopify Launch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926080"/>
            <a:ext cx="2560320" cy="914400"/>
          </a:xfrm>
          <a:prstGeom prst="rect">
            <a:avLst/>
          </a:prstGeom>
          <a:solidFill>
            <a:srgbClr val="0B2033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999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3246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(migrating from Laravel)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2560320" cy="914400"/>
          </a:xfrm>
          <a:prstGeom prst="rect">
            <a:avLst/>
          </a:prstGeom>
          <a:solidFill>
            <a:srgbClr val="0B2033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99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3246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Approved · 5 in R&amp;D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2926080"/>
            <a:ext cx="2560320" cy="914400"/>
          </a:xfrm>
          <a:prstGeom prst="rect">
            <a:avLst/>
          </a:prstGeom>
          <a:solidFill>
            <a:srgbClr val="0B2033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29992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0" y="3246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India · Skincare &amp; Wellness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Digital Marketing Manager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CATEGORY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Content Buckets — Finalized &amp; Approved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3749040"/>
          </a:xfrm>
          <a:prstGeom prst="rect">
            <a:avLst/>
          </a:prstGeom>
          <a:solidFill>
            <a:srgbClr val="D6EAF8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2788920" cy="548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5214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🧴  Skincare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category. Skin concerns, product guides, AM/PM routines. Primary driver of product page traffic.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Acne &amp; blemishes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02666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Dark spots &amp; pigmentation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447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Oily/dry/combination skin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8679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Sunscreen &amp; SPF education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428853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Serum &amp; moisturizer guides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1097280"/>
            <a:ext cx="2788920" cy="3749040"/>
          </a:xfrm>
          <a:prstGeom prst="rect">
            <a:avLst/>
          </a:prstGeom>
          <a:solidFill>
            <a:srgbClr val="D5F5E3"/>
          </a:solidFill>
          <a:ln w="19050">
            <a:solidFill>
              <a:srgbClr val="117A6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097280"/>
            <a:ext cx="2788920" cy="5486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15214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💆  Haircare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0128" y="1719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Secondary. Audience bridge — haircare readers convert to skincare buyers via internal linking.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2606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Hair fall &amp; thinning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302666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Dandruff &amp; scalp health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3447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Hair oiling &amp; washing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38679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Ingredient guides (Biotin, Keratin)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428853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Hair type routines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08776" y="1097280"/>
            <a:ext cx="2788920" cy="3749040"/>
          </a:xfrm>
          <a:prstGeom prst="rect">
            <a:avLst/>
          </a:prstGeom>
          <a:solidFill>
            <a:srgbClr val="E8DAEF"/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097280"/>
            <a:ext cx="2788920" cy="5486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15214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Ingredient Guide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0216" y="1719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builder. Science-led, beginner-friendly deep-dives that rank for high-intent searches.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0216" y="2606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[Ingredient] + how it works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0216" y="302666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Ingredient combos &amp; conflicts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0216" y="3447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Retinol / AHAs / BHAs 101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0216" y="38679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Niacinamide, Vitamin C, Peptides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0216" y="428853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Evidence-backed beginner guides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98864" y="1097280"/>
            <a:ext cx="2788920" cy="3749040"/>
          </a:xfrm>
          <a:prstGeom prst="rect">
            <a:avLst/>
          </a:prstGeom>
          <a:solidFill>
            <a:srgbClr val="FDEBD0"/>
          </a:solidFill>
          <a:ln w="19050">
            <a:solidFill>
              <a:srgbClr val="78421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98864" y="1097280"/>
            <a:ext cx="2788920" cy="54864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8864" y="115214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Care Tips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290304" y="1719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Top-of-funnel engagement. High shareability, myth-busting, seasonal and lifestyle content.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90304" y="2606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Skincare myths debunked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90304" y="302666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&amp; DIY remedies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290304" y="34472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Diet, sleep &amp; skin health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90304" y="38679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skincare tips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90304" y="428853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Ingredient alternatives to home remedies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4892040"/>
            <a:ext cx="11704320" cy="201168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92040"/>
            <a:ext cx="1152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Add "Product Comparisons" as a sub-tag under Skincare — high conversion intent (e.g., "Best sunscreen for oily skin India 2024")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MIGRATION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→ Shopify Decision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100584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Site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600200"/>
            <a:ext cx="640080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097280"/>
            <a:ext cx="1645920" cy="100584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097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640080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097280"/>
            <a:ext cx="1645920" cy="10058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97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Draft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600200"/>
            <a:ext cx="640080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097280"/>
            <a:ext cx="1645920" cy="10058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097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600200"/>
            <a:ext cx="640080" cy="0"/>
          </a:xfrm>
          <a:prstGeom prst="line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1097280"/>
            <a:ext cx="1645920" cy="10058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09728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301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219456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96312" y="2240280"/>
            <a:ext cx="292608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96312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9824" y="2240280"/>
            <a:ext cx="320040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77656" y="2240280"/>
            <a:ext cx="237744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77656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Redirect?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2194560" cy="521208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633472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Indexed by Google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96312" y="2633472"/>
            <a:ext cx="2926080" cy="521208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9464" y="2633472"/>
            <a:ext cx="2834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impressions/clicks in GSC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49824" y="2633472"/>
            <a:ext cx="3200400" cy="521208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976" y="2633472"/>
            <a:ext cx="31089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+ Optimize → Publish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77656" y="2633472"/>
            <a:ext cx="2377440" cy="521208"/>
          </a:xfrm>
          <a:prstGeom prst="rect">
            <a:avLst/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0808" y="2633472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301 Redirect mandatory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182112"/>
            <a:ext cx="2194560" cy="5212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182112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Crawled, Not Indexed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96312" y="3182112"/>
            <a:ext cx="2926080" cy="5212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9464" y="3182112"/>
            <a:ext cx="2834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GSC: "Crawled — not indexed"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9824" y="3182112"/>
            <a:ext cx="3200400" cy="5212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3182112"/>
            <a:ext cx="31089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if content is good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677656" y="3182112"/>
            <a:ext cx="2377440" cy="521208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50808" y="3182112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301 Redirect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3730752"/>
            <a:ext cx="2194560" cy="521208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730752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Crawled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96312" y="3730752"/>
            <a:ext cx="2926080" cy="521208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730752"/>
            <a:ext cx="2834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found by Google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49824" y="3730752"/>
            <a:ext cx="3200400" cy="521208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22976" y="3730752"/>
            <a:ext cx="31089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only if high quality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677656" y="3730752"/>
            <a:ext cx="2377440" cy="521208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50808" y="3730752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Delete from Laravel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279392"/>
            <a:ext cx="2194560" cy="52120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279392"/>
            <a:ext cx="21031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/ Duplicate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496312" y="4279392"/>
            <a:ext cx="2926080" cy="52120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9464" y="4279392"/>
            <a:ext cx="2834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400 words or duplicate topic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49824" y="4279392"/>
            <a:ext cx="3200400" cy="52120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22976" y="4279392"/>
            <a:ext cx="31089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with stronger post or delete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677656" y="4279392"/>
            <a:ext cx="2377440" cy="52120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50808" y="4279392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redirect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74320" y="486460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Laravel blogs: 60–70  |  Target: 100% audited within Week 1  |  Crawl tool: Screaming Frog (free, 500 URLs)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Approved Now · 5 in R&amp;D — Here's the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486400" cy="3886200"/>
          </a:xfrm>
          <a:prstGeom prst="rect">
            <a:avLst/>
          </a:prstGeom>
          <a:solidFill>
            <a:srgbClr val="EBF5FB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0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 APPROVED PRODUCTS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Write full SEO product description (Content Guidelines Doc)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Use real packaging photos — or styled flat-lay demos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Add Product Schema markup in Shopify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Internal links to 2–3 relevant blog articles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Add FAQ block: minimum 3 questions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18795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Go live — this is your revenue engine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051560"/>
            <a:ext cx="5486400" cy="3886200"/>
          </a:xfrm>
          <a:prstGeom prst="rect">
            <a:avLst/>
          </a:prstGeom>
          <a:solidFill>
            <a:srgbClr val="FEF9E7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051560"/>
            <a:ext cx="548640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51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5 R&amp;D PRODUCTS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16276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Create "Coming Soon" page with dummy image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21396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Write placeholder description (concern + key ingredients)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26517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Add "Notify Me When Available" CTA button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31638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Page starts getting indexed by Google now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3675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At launch: swap image + update copy + add price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418795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Launch day SEO head-start already built 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965192"/>
            <a:ext cx="11612880" cy="128016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974336"/>
            <a:ext cx="115214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By the time packaging is finalized, all product pages are already indexed. Product launch = just swap image + go.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AUTHORITY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Cluster Model — Pillar + Supporting Articles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54880" y="1463040"/>
            <a:ext cx="2651760" cy="13716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4630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Eye Gel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(Complete Guide)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Under Eye Gel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Dark Circles India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1673352"/>
            <a:ext cx="4572000" cy="731520"/>
          </a:xfrm>
          <a:prstGeom prst="line">
            <a:avLst/>
          </a:prstGeom>
          <a:noFill/>
          <a:ln w="12700">
            <a:solidFill>
              <a:srgbClr val="AED6F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Puffy Eyes: Does it Work?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08760" y="3410712"/>
            <a:ext cx="4572000" cy="-1005840"/>
          </a:xfrm>
          <a:prstGeom prst="line">
            <a:avLst/>
          </a:prstGeom>
          <a:noFill/>
          <a:ln w="12700">
            <a:solidFill>
              <a:srgbClr val="AED6F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0" y="4206240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2062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Eye Care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Routine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11880" y="4599432"/>
            <a:ext cx="2468880" cy="-2194560"/>
          </a:xfrm>
          <a:prstGeom prst="line">
            <a:avLst/>
          </a:prstGeom>
          <a:noFill/>
          <a:ln w="12700">
            <a:solidFill>
              <a:srgbClr val="AED6F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040880" y="4206240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2062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Peptides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Bags Explained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2440" y="4599432"/>
            <a:ext cx="-2011680" cy="-2194560"/>
          </a:xfrm>
          <a:prstGeom prst="line">
            <a:avLst/>
          </a:prstGeom>
          <a:noFill/>
          <a:ln w="12700">
            <a:solidFill>
              <a:srgbClr val="AED6F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235440" y="3017520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0175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Eye Cream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Gel — Which to Choose?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287000" y="3410712"/>
            <a:ext cx="-4206240" cy="-1005840"/>
          </a:xfrm>
          <a:prstGeom prst="line">
            <a:avLst/>
          </a:prstGeom>
          <a:noFill/>
          <a:ln w="12700">
            <a:solidFill>
              <a:srgbClr val="AED6F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235440" y="1280160"/>
            <a:ext cx="210312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1280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Retinol vs Vitamin 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Under Eye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287000" y="1673352"/>
            <a:ext cx="-4206240" cy="731520"/>
          </a:xfrm>
          <a:prstGeom prst="line">
            <a:avLst/>
          </a:prstGeom>
          <a:noFill/>
          <a:ln w="12700">
            <a:solidFill>
              <a:srgbClr val="AED6F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74320" y="4892040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cluster model is applied to each product: one pillar + 4–6 supporting articles = topical authority in Google's eyes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Action Plan — 4 Phases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3931920"/>
          </a:xfrm>
          <a:prstGeom prst="rect">
            <a:avLst/>
          </a:prstGeom>
          <a:solidFill>
            <a:srgbClr val="F9F9F9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2788920" cy="685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Shopify live + GSC/GA4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350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Crawl all Laravel blog URLs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87121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Content audit — categorize all 60–70 blogs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3924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301 redirect mapping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9136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First 7 product blogs live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44348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Keyword research: 100+ keywords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18688" y="1051560"/>
            <a:ext cx="2788920" cy="3931920"/>
          </a:xfrm>
          <a:prstGeom prst="rect">
            <a:avLst/>
          </a:prstGeom>
          <a:solidFill>
            <a:srgbClr val="F9F9F9"/>
          </a:solidFill>
          <a:ln w="19050">
            <a:solidFill>
              <a:srgbClr val="6C34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051560"/>
            <a:ext cx="2788920" cy="6858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0515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18288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Migrate all indexed Laravel blogs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350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pillar pages published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287121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HARO + guest post outreach begins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33924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Reddit/Quora engagement starts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39136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 descriptions: all 4 approved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44348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Social profiles active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08776" y="1051560"/>
            <a:ext cx="2788920" cy="3931920"/>
          </a:xfrm>
          <a:prstGeom prst="rect">
            <a:avLst/>
          </a:prstGeom>
          <a:solidFill>
            <a:srgbClr val="F9F9F9"/>
          </a:solidFill>
          <a:ln w="19050">
            <a:solidFill>
              <a:srgbClr val="148F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051560"/>
            <a:ext cx="2788920" cy="6858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0515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0216" y="18288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60–70 blogs migrated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0216" y="2350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25+ new blogs published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0216" y="287121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First influencer gifting campaign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0216" y="33924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Internal linking audit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0216" y="39136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15–20 quality backlinks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0216" y="44348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GSC: top impression pages expanded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98864" y="1051560"/>
            <a:ext cx="2788920" cy="3931920"/>
          </a:xfrm>
          <a:prstGeom prst="rect">
            <a:avLst/>
          </a:prstGeom>
          <a:solidFill>
            <a:srgbClr val="F9F9F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98864" y="1051560"/>
            <a:ext cx="278892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8864" y="10515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90304" y="18288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Monthly SEO audit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90304" y="23500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Page 2 keywords pushed to Page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90304" y="2871216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 blogs refreshed with new 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290304" y="33924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First results-based case study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90304" y="391363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Monthly report: traffic, rankings, links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90304" y="44348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Month 4 calendar finalized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KPIs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— Month by Month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3200400" cy="457200"/>
          </a:xfrm>
          <a:prstGeom prst="rect">
            <a:avLst/>
          </a:prstGeom>
          <a:solidFill>
            <a:srgbClr val="148F7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789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93008" y="1078992"/>
            <a:ext cx="2011680" cy="457200"/>
          </a:xfrm>
          <a:prstGeom prst="rect">
            <a:avLst/>
          </a:prstGeom>
          <a:solidFill>
            <a:srgbClr val="148F7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0789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22976" y="1078992"/>
            <a:ext cx="2011680" cy="457200"/>
          </a:xfrm>
          <a:prstGeom prst="rect">
            <a:avLst/>
          </a:prstGeom>
          <a:solidFill>
            <a:srgbClr val="148F7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10789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52944" y="1078992"/>
            <a:ext cx="2011680" cy="457200"/>
          </a:xfrm>
          <a:prstGeom prst="rect">
            <a:avLst/>
          </a:prstGeom>
          <a:solidFill>
            <a:srgbClr val="148F7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6096" y="10789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82912" y="1078992"/>
            <a:ext cx="2011680" cy="457200"/>
          </a:xfrm>
          <a:prstGeom prst="rect">
            <a:avLst/>
          </a:prstGeom>
          <a:solidFill>
            <a:srgbClr val="148F7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6064" y="10789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554480"/>
            <a:ext cx="320040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 live on Shopify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93008" y="1554480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22976" y="1554480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52944" y="1554480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6096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82912" y="1554480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56064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029968"/>
            <a:ext cx="320040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0299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sessions/month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93008" y="2029968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22976" y="2029968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52944" y="2029968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82912" y="2029968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6064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320040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5054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93008" y="2505456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5054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22976" y="2505456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96128" y="25054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52944" y="2505456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6096" y="25054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582912" y="2505456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56064" y="25054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980944"/>
            <a:ext cx="320040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29809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ranking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93008" y="2980944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66160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22976" y="2980944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52944" y="2980944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6096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582912" y="2980944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56064" y="29809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456432"/>
            <a:ext cx="320040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3456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in Top 10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93008" y="3456432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3456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22976" y="3456432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96128" y="3456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552944" y="3456432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6096" y="3456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582912" y="3456432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56064" y="3456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3931920"/>
            <a:ext cx="320040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Rating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493008" y="3931920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6616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522976" y="3931920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96128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552944" y="3931920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26096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582912" y="3931920"/>
            <a:ext cx="2011680" cy="457200"/>
          </a:xfrm>
          <a:prstGeom prst="rect">
            <a:avLst/>
          </a:prstGeom>
          <a:solidFill>
            <a:srgbClr val="0B2033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656064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4407408"/>
            <a:ext cx="320040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7472" y="4407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 acquired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493008" y="4407408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66160" y="44074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522976" y="4407408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96128" y="44074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552944" y="4407408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26096" y="44074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75+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582912" y="4407408"/>
            <a:ext cx="2011680" cy="45720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56064" y="44074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74320" y="48006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hype. Go for results." — This is DaMembrane's brand promise. Same philosophy behind our SEO.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2026-05-24T06:07:40Z</dcterms:created>
  <dcterms:modified xsi:type="dcterms:W3CDTF">2026-05-24T06:07:40Z</dcterms:modified>
</cp:coreProperties>
</file>