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0"/>
            <a:ext cx="3749040" cy="6858000"/>
          </a:xfrm>
          <a:prstGeom prst="rect">
            <a:avLst/>
          </a:prstGeom>
          <a:solidFill>
            <a:srgbClr val="1B2E40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731520"/>
            <a:ext cx="3200400" cy="32004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35440" y="4114800"/>
            <a:ext cx="2286000" cy="2286000"/>
          </a:xfrm>
          <a:prstGeom prst="ellipse">
            <a:avLst/>
          </a:prstGeom>
          <a:solidFill>
            <a:srgbClr val="00C9A7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C9A7"/>
                </a:solidFill>
              </a:rPr>
              <a:t>DaMembrane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SEO &amp; Digital Growth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C9A7"/>
                </a:solidFill>
              </a:rPr>
              <a:t>Roadmap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3B1"/>
                </a:solidFill>
              </a:rPr>
              <a:t>Phase 1 Launch Strategy — Organic Traffic, Content &amp; Brand Authority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27432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Prepared by: Digital Marketing Team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544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Brand: DaMembrane (D2C Skincare)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9286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Platform: Shopify | Market: India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9536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0C9A7"/>
                </a:solidFill>
              </a:rPr>
              <a:t>LAUNCHING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95360" y="14173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</a:rPr>
              <a:t>9</a:t>
            </a:r>
            <a:endParaRPr lang="en-US" sz="11000" dirty="0"/>
          </a:p>
        </p:txBody>
      </p:sp>
      <p:sp>
        <p:nvSpPr>
          <p:cNvPr id="16" name="Text 14"/>
          <p:cNvSpPr/>
          <p:nvPr/>
        </p:nvSpPr>
        <p:spPr>
          <a:xfrm>
            <a:off x="8595360" y="3246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500" kern="0" dirty="0">
                <a:solidFill>
                  <a:srgbClr val="8FA3B1"/>
                </a:solidFill>
              </a:rPr>
              <a:t>PRODUCTS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95360" y="3840480"/>
            <a:ext cx="3200400" cy="27432"/>
          </a:xfrm>
          <a:prstGeom prst="rect">
            <a:avLst/>
          </a:prstGeom>
          <a:solidFill>
            <a:srgbClr val="00C9A7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Face Scrub  •  Under Eye Gel  •  SPF 50 Sunscreen (P++++)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41248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Anti-Aging Serum  •  Face Toner  •  Cleanser  •  +3 More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9A7"/>
                </a:solidFill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We'll Cover Today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5778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117043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3441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9A7"/>
                </a:solidFill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70432" y="13441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Brand Overview &amp; Market Opportunity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70432" y="18013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D2C skincare landscape in India, competitor analysis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532888"/>
            <a:ext cx="55778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32888"/>
            <a:ext cx="64008" cy="117043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64261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9A7"/>
                </a:solidFill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70432" y="26426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SEO Foundation &amp; Technical Setup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70432" y="30998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Shopify SEO, site architecture, Core Web Vitals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831336"/>
            <a:ext cx="55778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831336"/>
            <a:ext cx="64008" cy="117043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394106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9A7"/>
                </a:solidFill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70432" y="39410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Keyword Research Strategy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70432" y="43982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Product + informational keywords, search intent mapping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5129784"/>
            <a:ext cx="55778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5129784"/>
            <a:ext cx="64008" cy="117043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52395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9A7"/>
                </a:solidFill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70432" y="52395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Content Marketing Plan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70432" y="56967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Blog calendar, pillar pages, skincare education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1234440"/>
            <a:ext cx="55778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1234440"/>
            <a:ext cx="64008" cy="117043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7" name="Text 25"/>
          <p:cNvSpPr/>
          <p:nvPr/>
        </p:nvSpPr>
        <p:spPr>
          <a:xfrm>
            <a:off x="6428232" y="13441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9A7"/>
                </a:solidFill>
              </a:rPr>
              <a:t>05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068312" y="13441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Social Media Playbook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68312" y="18013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Instagram, YouTube, Facebook, LinkedIn, Twitter/X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2532888"/>
            <a:ext cx="55778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2532888"/>
            <a:ext cx="64008" cy="117043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2" name="Text 30"/>
          <p:cNvSpPr/>
          <p:nvPr/>
        </p:nvSpPr>
        <p:spPr>
          <a:xfrm>
            <a:off x="6428232" y="264261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9A7"/>
                </a:solidFill>
              </a:rPr>
              <a:t>06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068312" y="26426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Link Building &amp; Authority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068312" y="30998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Zero-budget outreach, PR, influencer tie-ups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3831336"/>
            <a:ext cx="55778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3831336"/>
            <a:ext cx="64008" cy="117043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7" name="Text 35"/>
          <p:cNvSpPr/>
          <p:nvPr/>
        </p:nvSpPr>
        <p:spPr>
          <a:xfrm>
            <a:off x="6428232" y="394106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9A7"/>
                </a:solidFill>
              </a:rPr>
              <a:t>07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068312" y="39410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Monthly Workflow &amp; KPIs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068312" y="43982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90-day action plan, tracking &amp; reporting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63640" y="5129784"/>
            <a:ext cx="55778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63640" y="5129784"/>
            <a:ext cx="64008" cy="117043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2" name="Text 40"/>
          <p:cNvSpPr/>
          <p:nvPr/>
        </p:nvSpPr>
        <p:spPr>
          <a:xfrm>
            <a:off x="6428232" y="52395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9A7"/>
                </a:solidFill>
              </a:rPr>
              <a:t>08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068312" y="52395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Competitor Case Studies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068312" y="56967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How BeMinimalist, Dot &amp; Key, Pilgrim rank — and how we beat them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2E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</a:rPr>
              <a:t>MARKET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India's D2C Skincare Boom — Why Now is the Right Time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160020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7432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984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A7"/>
                </a:solidFill>
              </a:rPr>
              <a:t>₹32,000Cr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Indian Skincare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Market Size 2025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143000"/>
            <a:ext cx="2743200" cy="160020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143000"/>
            <a:ext cx="2743200" cy="54864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2984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93D"/>
                </a:solidFill>
              </a:rPr>
              <a:t>28%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64408" y="20848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D2C Skincare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YoY Growth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08776" y="1143000"/>
            <a:ext cx="2743200" cy="160020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08776" y="1143000"/>
            <a:ext cx="2743200" cy="5486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5" name="Text 13"/>
          <p:cNvSpPr/>
          <p:nvPr/>
        </p:nvSpPr>
        <p:spPr>
          <a:xfrm>
            <a:off x="6208776" y="12984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DD3FC"/>
                </a:solidFill>
              </a:rPr>
              <a:t>620M+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08776" y="20848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Internet Users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Searching Skincare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53144" y="1143000"/>
            <a:ext cx="2743200" cy="160020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53144" y="1143000"/>
            <a:ext cx="27432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9153144" y="12984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6B"/>
                </a:solidFill>
              </a:rPr>
              <a:t>68%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153144" y="20848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Consumers Read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Ingredients Now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29443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</a:rPr>
              <a:t>WHY DAMEMBRANE HAS AN EDGE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383280"/>
            <a:ext cx="3749040" cy="237744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54787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🔬  Results Over Hype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041648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1"/>
                </a:solidFill>
              </a:rPr>
              <a:t>Consumers are fatigued by over-promised skincare. Ingredient-first positioning resonates with the growing 'skinimalism' movement.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3383280"/>
            <a:ext cx="3749040" cy="237744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80560" y="354787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📱  Search Intent is High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80560" y="4041648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1"/>
                </a:solidFill>
              </a:rPr>
              <a:t>Over 2M monthly searches for 'best sunscreen India', 'niacinamide serum', 'under eye cream' — all in your launch lineup.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75320" y="3383280"/>
            <a:ext cx="3749040" cy="237744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58200" y="354787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💰  SEO = Zero Media Cost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58200" y="4041648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1"/>
                </a:solidFill>
              </a:rPr>
              <a:t>BeMinimalist built ₹100Cr+ revenue with almost zero paid advertising — purely through education &amp; SEO. We can replicate this.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</a:rPr>
              <a:t>COMPETITOR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They Rank — and Where the Gaps Are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164592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" y="11155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Brand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20240" y="1078992"/>
            <a:ext cx="237744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1993392" y="11155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SEO Strategy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078992"/>
            <a:ext cx="237744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4416552" y="11155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Content Focus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66560" y="1078992"/>
            <a:ext cx="137160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6839712" y="11155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Backlinks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83880" y="1078992"/>
            <a:ext cx="420624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8257032" y="1115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Gap for DaMembrane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581912"/>
            <a:ext cx="164592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1618488"/>
            <a:ext cx="1536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448"/>
                </a:solidFill>
              </a:rPr>
              <a:t>BeMinimalist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20240" y="1581912"/>
            <a:ext cx="23774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993392" y="1618488"/>
            <a:ext cx="22677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Ingredient-led blogs, 500+ articles, FAQ pages for every ingredient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43400" y="1581912"/>
            <a:ext cx="23774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416552" y="1618488"/>
            <a:ext cx="22677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Ingredient education, 'how to use', comparisons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66560" y="1581912"/>
            <a:ext cx="137160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839712" y="1618488"/>
            <a:ext cx="12618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High (beauty blogs, Vogue, HT)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83880" y="1581912"/>
            <a:ext cx="4206240" cy="859536"/>
          </a:xfrm>
          <a:prstGeom prst="rect">
            <a:avLst/>
          </a:prstGeom>
          <a:solidFill>
            <a:srgbClr val="E8FFF9"/>
          </a:solidFill>
          <a:ln/>
        </p:spPr>
      </p:sp>
      <p:sp>
        <p:nvSpPr>
          <p:cNvPr id="24" name="Text 22"/>
          <p:cNvSpPr/>
          <p:nvPr/>
        </p:nvSpPr>
        <p:spPr>
          <a:xfrm>
            <a:off x="8257032" y="1618488"/>
            <a:ext cx="4096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B54"/>
                </a:solidFill>
              </a:rPr>
              <a:t>More local Hindi content, video SEO, YouTube shorts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2478024"/>
            <a:ext cx="1645920" cy="859536"/>
          </a:xfrm>
          <a:prstGeom prst="rect">
            <a:avLst/>
          </a:prstGeom>
          <a:solidFill>
            <a:srgbClr val="EFF4F9"/>
          </a:solidFill>
          <a:ln/>
        </p:spPr>
      </p:sp>
      <p:sp>
        <p:nvSpPr>
          <p:cNvPr id="26" name="Text 24"/>
          <p:cNvSpPr/>
          <p:nvPr/>
        </p:nvSpPr>
        <p:spPr>
          <a:xfrm>
            <a:off x="301752" y="2514600"/>
            <a:ext cx="1536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448"/>
                </a:solidFill>
              </a:rPr>
              <a:t>Pilgrim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20240" y="2478024"/>
            <a:ext cx="2377440" cy="859536"/>
          </a:xfrm>
          <a:prstGeom prst="rect">
            <a:avLst/>
          </a:prstGeom>
          <a:solidFill>
            <a:srgbClr val="EFF4F9"/>
          </a:solidFill>
          <a:ln/>
        </p:spPr>
      </p:sp>
      <p:sp>
        <p:nvSpPr>
          <p:cNvPr id="28" name="Text 26"/>
          <p:cNvSpPr/>
          <p:nvPr/>
        </p:nvSpPr>
        <p:spPr>
          <a:xfrm>
            <a:off x="1993392" y="2514600"/>
            <a:ext cx="22677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Category pages optimized, moderate blog content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43400" y="2478024"/>
            <a:ext cx="2377440" cy="859536"/>
          </a:xfrm>
          <a:prstGeom prst="rect">
            <a:avLst/>
          </a:prstGeom>
          <a:solidFill>
            <a:srgbClr val="EFF4F9"/>
          </a:solidFill>
          <a:ln/>
        </p:spPr>
      </p:sp>
      <p:sp>
        <p:nvSpPr>
          <p:cNvPr id="30" name="Text 28"/>
          <p:cNvSpPr/>
          <p:nvPr/>
        </p:nvSpPr>
        <p:spPr>
          <a:xfrm>
            <a:off x="4416552" y="2514600"/>
            <a:ext cx="22677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Destination beauty stories + ingredient explainers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66560" y="2478024"/>
            <a:ext cx="1371600" cy="859536"/>
          </a:xfrm>
          <a:prstGeom prst="rect">
            <a:avLst/>
          </a:prstGeom>
          <a:solidFill>
            <a:srgbClr val="EFF4F9"/>
          </a:solidFill>
          <a:ln/>
        </p:spPr>
      </p:sp>
      <p:sp>
        <p:nvSpPr>
          <p:cNvPr id="32" name="Text 30"/>
          <p:cNvSpPr/>
          <p:nvPr/>
        </p:nvSpPr>
        <p:spPr>
          <a:xfrm>
            <a:off x="6839712" y="2514600"/>
            <a:ext cx="12618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Medium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83880" y="2478024"/>
            <a:ext cx="4206240" cy="859536"/>
          </a:xfrm>
          <a:prstGeom prst="rect">
            <a:avLst/>
          </a:prstGeom>
          <a:solidFill>
            <a:srgbClr val="E8FFF9"/>
          </a:solidFill>
          <a:ln/>
        </p:spPr>
      </p:sp>
      <p:sp>
        <p:nvSpPr>
          <p:cNvPr id="34" name="Text 32"/>
          <p:cNvSpPr/>
          <p:nvPr/>
        </p:nvSpPr>
        <p:spPr>
          <a:xfrm>
            <a:off x="8257032" y="2514600"/>
            <a:ext cx="4096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B54"/>
                </a:solidFill>
              </a:rPr>
              <a:t>Science-backed content series, skincare routines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3374136"/>
            <a:ext cx="164592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301752" y="3410712"/>
            <a:ext cx="1536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448"/>
                </a:solidFill>
              </a:rPr>
              <a:t>Dot &amp; Key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920240" y="3374136"/>
            <a:ext cx="23774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1993392" y="3410712"/>
            <a:ext cx="22677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Influencer + paid mostly; SEO secondary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343400" y="3374136"/>
            <a:ext cx="23774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416552" y="3410712"/>
            <a:ext cx="22677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Trending skincare aesthetics, glow routines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766560" y="3374136"/>
            <a:ext cx="137160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839712" y="3410712"/>
            <a:ext cx="12618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Medium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183880" y="3374136"/>
            <a:ext cx="4206240" cy="859536"/>
          </a:xfrm>
          <a:prstGeom prst="rect">
            <a:avLst/>
          </a:prstGeom>
          <a:solidFill>
            <a:srgbClr val="E8FFF9"/>
          </a:solidFill>
          <a:ln/>
        </p:spPr>
      </p:sp>
      <p:sp>
        <p:nvSpPr>
          <p:cNvPr id="44" name="Text 42"/>
          <p:cNvSpPr/>
          <p:nvPr/>
        </p:nvSpPr>
        <p:spPr>
          <a:xfrm>
            <a:off x="8257032" y="3410712"/>
            <a:ext cx="4096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B54"/>
                </a:solidFill>
              </a:rPr>
              <a:t>Dominate informational queries they ignore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28600" y="4270248"/>
            <a:ext cx="1645920" cy="859536"/>
          </a:xfrm>
          <a:prstGeom prst="rect">
            <a:avLst/>
          </a:prstGeom>
          <a:solidFill>
            <a:srgbClr val="EFF4F9"/>
          </a:solidFill>
          <a:ln/>
        </p:spPr>
      </p:sp>
      <p:sp>
        <p:nvSpPr>
          <p:cNvPr id="46" name="Text 44"/>
          <p:cNvSpPr/>
          <p:nvPr/>
        </p:nvSpPr>
        <p:spPr>
          <a:xfrm>
            <a:off x="301752" y="4306824"/>
            <a:ext cx="1536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448"/>
                </a:solidFill>
              </a:rPr>
              <a:t>The Derma Co.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920240" y="4270248"/>
            <a:ext cx="2377440" cy="859536"/>
          </a:xfrm>
          <a:prstGeom prst="rect">
            <a:avLst/>
          </a:prstGeom>
          <a:solidFill>
            <a:srgbClr val="EFF4F9"/>
          </a:solidFill>
          <a:ln/>
        </p:spPr>
      </p:sp>
      <p:sp>
        <p:nvSpPr>
          <p:cNvPr id="48" name="Text 46"/>
          <p:cNvSpPr/>
          <p:nvPr/>
        </p:nvSpPr>
        <p:spPr>
          <a:xfrm>
            <a:off x="1993392" y="4306824"/>
            <a:ext cx="22677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Clinical + dermat angle, strong blog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343400" y="4270248"/>
            <a:ext cx="2377440" cy="859536"/>
          </a:xfrm>
          <a:prstGeom prst="rect">
            <a:avLst/>
          </a:prstGeom>
          <a:solidFill>
            <a:srgbClr val="EFF4F9"/>
          </a:solidFill>
          <a:ln/>
        </p:spPr>
      </p:sp>
      <p:sp>
        <p:nvSpPr>
          <p:cNvPr id="50" name="Text 48"/>
          <p:cNvSpPr/>
          <p:nvPr/>
        </p:nvSpPr>
        <p:spPr>
          <a:xfrm>
            <a:off x="4416552" y="4306824"/>
            <a:ext cx="22677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Dermat-recommended, clinical trials, concern-led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766560" y="4270248"/>
            <a:ext cx="1371600" cy="859536"/>
          </a:xfrm>
          <a:prstGeom prst="rect">
            <a:avLst/>
          </a:prstGeom>
          <a:solidFill>
            <a:srgbClr val="EFF4F9"/>
          </a:solidFill>
          <a:ln/>
        </p:spPr>
      </p:sp>
      <p:sp>
        <p:nvSpPr>
          <p:cNvPr id="52" name="Text 50"/>
          <p:cNvSpPr/>
          <p:nvPr/>
        </p:nvSpPr>
        <p:spPr>
          <a:xfrm>
            <a:off x="6839712" y="4306824"/>
            <a:ext cx="12618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High (media mentions)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183880" y="4270248"/>
            <a:ext cx="4206240" cy="859536"/>
          </a:xfrm>
          <a:prstGeom prst="rect">
            <a:avLst/>
          </a:prstGeom>
          <a:solidFill>
            <a:srgbClr val="E8FFF9"/>
          </a:solidFill>
          <a:ln/>
        </p:spPr>
      </p:sp>
      <p:sp>
        <p:nvSpPr>
          <p:cNvPr id="54" name="Text 52"/>
          <p:cNvSpPr/>
          <p:nvPr/>
        </p:nvSpPr>
        <p:spPr>
          <a:xfrm>
            <a:off x="8257032" y="4306824"/>
            <a:ext cx="4096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B54"/>
                </a:solidFill>
              </a:rPr>
              <a:t>Real results data, before/after education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28600" y="5166360"/>
            <a:ext cx="164592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301752" y="5202936"/>
            <a:ext cx="1536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448"/>
                </a:solidFill>
              </a:rPr>
              <a:t>Foxtale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920240" y="5166360"/>
            <a:ext cx="23774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1993392" y="5202936"/>
            <a:ext cx="22677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Growing; community-led, Reddit presence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343400" y="5166360"/>
            <a:ext cx="23774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4416552" y="5202936"/>
            <a:ext cx="22677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Community Q&amp;A, user reviews, how-to guides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766560" y="5166360"/>
            <a:ext cx="137160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6839712" y="5202936"/>
            <a:ext cx="12618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Low-Medium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183880" y="5166360"/>
            <a:ext cx="4206240" cy="859536"/>
          </a:xfrm>
          <a:prstGeom prst="rect">
            <a:avLst/>
          </a:prstGeom>
          <a:solidFill>
            <a:srgbClr val="E8FFF9"/>
          </a:solidFill>
          <a:ln/>
        </p:spPr>
      </p:sp>
      <p:sp>
        <p:nvSpPr>
          <p:cNvPr id="64" name="Text 62"/>
          <p:cNvSpPr/>
          <p:nvPr/>
        </p:nvSpPr>
        <p:spPr>
          <a:xfrm>
            <a:off x="8257032" y="5202936"/>
            <a:ext cx="4096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B54"/>
                </a:solidFill>
              </a:rPr>
              <a:t>Build earlier authority in niche long-tail keywords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28600" y="6126480"/>
            <a:ext cx="11704320" cy="502920"/>
          </a:xfrm>
          <a:prstGeom prst="rect">
            <a:avLst/>
          </a:prstGeom>
          <a:solidFill>
            <a:srgbClr val="D1FAE5"/>
          </a:solidFill>
          <a:ln/>
        </p:spPr>
        <p:txBody>
          <a:bodyPr wrap="square" lIns="50800" tIns="0" rIns="1016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B54"/>
                </a:solidFill>
              </a:rPr>
              <a:t>✅  Key Insight: All competitors under-index on YouTube SEO, Hindi-language content, and long-tail 'best [product] for [skin concern]' queries. This is DaMembrane's first mover advantage.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2E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</a:rPr>
              <a:t>PHASE 1 — WEEK 1–2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Technical SEO Foundation — Shopify Setup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5669280" cy="1719072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54864" cy="17190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Shopify SEO Essentials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61848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▸  Install SEO King or Yoast SEO for Shopify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▸  Verify on Google Search Console &amp; Bing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2219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▸  Submit XML sitemap to all search engines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52374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▸  Set canonical URLs to avoid duplicate content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5669280" cy="1719072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71800"/>
            <a:ext cx="54864" cy="17190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0632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Site Architecture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344728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▸  Homepage → Category → Product (3-click rule)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7490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▸  Clean URL structure: /products/spf-50-sunscreen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40507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▸  Create /blogs/skincare-tips as content hub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35254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▸  Add breadcrumbs for navigation &amp; schema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800600"/>
            <a:ext cx="5669280" cy="1719072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4800600"/>
            <a:ext cx="54864" cy="17190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8920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Schema Markup (Rich Results)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527608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▸  Product schema: price, rating, availability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55778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▸  FAQ schema on all product + blog pages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58795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▸  Review schema for trust signals in SERPs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18134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▸  BreadcrumbList schema for navigation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63640" y="1143000"/>
            <a:ext cx="5577840" cy="2423160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46520" y="126187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⚡  Core Web Vitals — Priority Targets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46520" y="1719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A3B1"/>
                </a:solidFill>
              </a:rPr>
              <a:t>LCP (Largest Contentful Paint)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509760" y="1737360"/>
            <a:ext cx="960120" cy="228600"/>
          </a:xfrm>
          <a:prstGeom prst="rect">
            <a:avLst/>
          </a:prstGeom>
          <a:solidFill>
            <a:srgbClr val="00C9A7">
              <a:alpha val="8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509760" y="171907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A12"/>
                </a:solidFill>
              </a:rPr>
              <a:t>&lt; 2.5s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46520" y="21762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A3B1"/>
                </a:solidFill>
              </a:rPr>
              <a:t>FID / INP (Interactivity)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509760" y="2194560"/>
            <a:ext cx="960120" cy="228600"/>
          </a:xfrm>
          <a:prstGeom prst="rect">
            <a:avLst/>
          </a:prstGeom>
          <a:solidFill>
            <a:srgbClr val="00C9A7">
              <a:alpha val="8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509760" y="217627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A12"/>
                </a:solidFill>
              </a:rPr>
              <a:t>&lt; 200ms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46520" y="2633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A3B1"/>
                </a:solidFill>
              </a:rPr>
              <a:t>CLS (Cumulative Layout Shift)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509760" y="2651760"/>
            <a:ext cx="960120" cy="228600"/>
          </a:xfrm>
          <a:prstGeom prst="rect">
            <a:avLst/>
          </a:prstGeom>
          <a:solidFill>
            <a:srgbClr val="00C9A7">
              <a:alpha val="8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509760" y="263347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A12"/>
                </a:solidFill>
              </a:rPr>
              <a:t>&lt; 0.1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46520" y="30906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A3B1"/>
                </a:solidFill>
              </a:rPr>
              <a:t>Page Speed (Mobile)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509760" y="3108960"/>
            <a:ext cx="960120" cy="228600"/>
          </a:xfrm>
          <a:prstGeom prst="rect">
            <a:avLst/>
          </a:prstGeom>
          <a:solidFill>
            <a:srgbClr val="00C9A7">
              <a:alpha val="8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509760" y="309067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A12"/>
                </a:solidFill>
              </a:rPr>
              <a:t>85+ Score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63640" y="3730752"/>
            <a:ext cx="5577840" cy="1170432"/>
          </a:xfrm>
          <a:prstGeom prst="rect">
            <a:avLst/>
          </a:prstGeom>
          <a:solidFill>
            <a:srgbClr val="1022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46520" y="38404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93D"/>
                </a:solidFill>
              </a:rPr>
              <a:t>📱  Mobile-First Is Non-Negotiable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46520" y="42062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78% of Indian skincare shoppers browse on mobile.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Test every page on 3G speed. Use Shopify's Dawn or Prestige theme — both are mobile-optimized out of the box.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63640" y="5010912"/>
            <a:ext cx="5577840" cy="1627632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46520" y="51206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On-Page Checklist — Every Product Page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46520" y="550468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✓  Keyword in title tag (H1), meta title &amp; description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46520" y="572414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✓  Ingredient list with benefits (keyword-rich naturally)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46520" y="594360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✓  How to use section (FAQ schema opportunity)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46520" y="616305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✓  User reviews section (fresh content signal)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46520" y="638251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✓  Internal links to related products + blogs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</a:rPr>
              <a:t>PHASE 1 — WEEK 2–3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Keyword Research — Search Intent Mapping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7947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379476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070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🛒  Transactional (Product Pages)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719072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0FAF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3736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448"/>
                </a:solidFill>
              </a:rPr>
              <a:t>best SPF 50 sunscreen India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276856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0FAF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9514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448"/>
                </a:solidFill>
              </a:rPr>
              <a:t>under eye gel for dark circles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834640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0FAF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5292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448"/>
                </a:solidFill>
              </a:rPr>
              <a:t>face scrub for oily skin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392424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0FAF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1071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448"/>
                </a:solidFill>
              </a:rPr>
              <a:t>anti aging serum India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950208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0FAF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684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448"/>
                </a:solidFill>
              </a:rPr>
              <a:t>face cleanser for sensitive skin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507992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0FAF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5262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448"/>
                </a:solidFill>
              </a:rPr>
              <a:t>buy face toner online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1097280"/>
            <a:ext cx="37947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51960" y="1097280"/>
            <a:ext cx="3794760" cy="54864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12070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📚  Informational (Blog Posts)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1719072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0FAF7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173736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448"/>
                </a:solidFill>
              </a:rPr>
              <a:t>how to use sunscreen correctly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2276856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0FAF7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229514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448"/>
                </a:solidFill>
              </a:rPr>
              <a:t>what is niacinamide serum good for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89120" y="2834640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0FAF7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285292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448"/>
                </a:solidFill>
              </a:rPr>
              <a:t>skincare routine for beginners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89120" y="3392424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0FAF7"/>
          </a:solidFill>
          <a:ln/>
        </p:spPr>
      </p:sp>
      <p:sp>
        <p:nvSpPr>
          <p:cNvPr id="30" name="Text 28"/>
          <p:cNvSpPr/>
          <p:nvPr/>
        </p:nvSpPr>
        <p:spPr>
          <a:xfrm>
            <a:off x="4526280" y="341071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448"/>
                </a:solidFill>
              </a:rPr>
              <a:t>best ingredients for anti-aging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89120" y="3950208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0FAF7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39684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448"/>
                </a:solidFill>
              </a:rPr>
              <a:t>how to remove dark circles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89120" y="4507992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0FAF7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45262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448"/>
                </a:solidFill>
              </a:rPr>
              <a:t>face scrub vs face wash difference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0" y="1097280"/>
            <a:ext cx="37947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29600" y="1097280"/>
            <a:ext cx="3794760" cy="5486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37" name="Text 35"/>
          <p:cNvSpPr/>
          <p:nvPr/>
        </p:nvSpPr>
        <p:spPr>
          <a:xfrm>
            <a:off x="8366760" y="12070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🔍  Comparison (Review Pages)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366760" y="1719072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0FAF7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173736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448"/>
                </a:solidFill>
              </a:rPr>
              <a:t>beminimalist vs damembrane sunscreen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366760" y="2276856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0FAF7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229514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448"/>
                </a:solidFill>
              </a:rPr>
              <a:t>best sunscreen with PA++++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366760" y="2834640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0FAF7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285292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448"/>
                </a:solidFill>
              </a:rPr>
              <a:t>cleanser vs face wash which is better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366760" y="3392424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0FAF7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341071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448"/>
                </a:solidFill>
              </a:rPr>
              <a:t>vitamin c vs niacinamide for dark spots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366760" y="3950208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0FAF7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39684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448"/>
                </a:solidFill>
              </a:rPr>
              <a:t>which face scrub is best for acne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366760" y="4507992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0FAF7"/>
          </a:solidFill>
          <a:ln/>
        </p:spPr>
      </p:sp>
      <p:sp>
        <p:nvSpPr>
          <p:cNvPr id="49" name="Text 47"/>
          <p:cNvSpPr/>
          <p:nvPr/>
        </p:nvSpPr>
        <p:spPr>
          <a:xfrm>
            <a:off x="8503920" y="45262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448"/>
                </a:solidFill>
              </a:rPr>
              <a:t>SPF 30 vs SPF 50 India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4320" y="5650992"/>
            <a:ext cx="11612880" cy="10058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02920" y="5760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1"/>
                </a:solidFill>
              </a:rPr>
              <a:t>📌  Strategy: Start with low-competition long-tail keywords (50–500 searches/month). Win those first, build authority, then go after 10K+ volume head terms. Tools: Google Keyword Planner (free), Ubersuggest, Answer The Public, Google Search Console.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2E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</a:rPr>
              <a:t>PHASE 2 — MONTH 1–3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Content Marketing Strategy — Educate to Dominate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</a:rPr>
              <a:t>PILLAR PAGE STRUCTURE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3794760" cy="5029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554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🏛  Sunscreen Guide (Pillar)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3383280" cy="402336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084832"/>
            <a:ext cx="45720" cy="402336"/>
          </a:xfrm>
          <a:prstGeom prst="rect">
            <a:avLst/>
          </a:prstGeom>
          <a:solidFill>
            <a:srgbClr val="00C9A7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SPF 30 vs 50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383280" cy="402336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542032"/>
            <a:ext cx="45720" cy="402336"/>
          </a:xfrm>
          <a:prstGeom prst="rect">
            <a:avLst/>
          </a:prstGeom>
          <a:solidFill>
            <a:srgbClr val="00C9A7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PA++++ meaning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999232"/>
            <a:ext cx="3383280" cy="402336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999232"/>
            <a:ext cx="45720" cy="402336"/>
          </a:xfrm>
          <a:prstGeom prst="rect">
            <a:avLst/>
          </a:prstGeom>
          <a:solidFill>
            <a:srgbClr val="00C9A7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175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Sunscreen for oily skin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456432"/>
            <a:ext cx="3383280" cy="402336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3456432"/>
            <a:ext cx="45720" cy="402336"/>
          </a:xfrm>
          <a:prstGeom prst="rect">
            <a:avLst/>
          </a:prstGeom>
          <a:solidFill>
            <a:srgbClr val="00C9A7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74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Chemical vs physical SPF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1508760"/>
            <a:ext cx="3794760" cy="5029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1" name="Text 19"/>
          <p:cNvSpPr/>
          <p:nvPr/>
        </p:nvSpPr>
        <p:spPr>
          <a:xfrm>
            <a:off x="4361688" y="1554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🏛  Anti-Aging Hub (Pillar)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80560" y="2084832"/>
            <a:ext cx="3383280" cy="402336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23" name="Shape 21"/>
          <p:cNvSpPr/>
          <p:nvPr/>
        </p:nvSpPr>
        <p:spPr>
          <a:xfrm>
            <a:off x="4480560" y="2084832"/>
            <a:ext cx="45720" cy="402336"/>
          </a:xfrm>
          <a:prstGeom prst="rect">
            <a:avLst/>
          </a:prstGeom>
          <a:solidFill>
            <a:srgbClr val="00C9A7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617720" y="2103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Best anti-aging ingredients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2542032"/>
            <a:ext cx="3383280" cy="402336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26" name="Shape 24"/>
          <p:cNvSpPr/>
          <p:nvPr/>
        </p:nvSpPr>
        <p:spPr>
          <a:xfrm>
            <a:off x="4480560" y="2542032"/>
            <a:ext cx="45720" cy="402336"/>
          </a:xfrm>
          <a:prstGeom prst="rect">
            <a:avLst/>
          </a:prstGeom>
          <a:solidFill>
            <a:srgbClr val="00C9A7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Retinol alternatives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80560" y="2999232"/>
            <a:ext cx="3383280" cy="402336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29" name="Shape 27"/>
          <p:cNvSpPr/>
          <p:nvPr/>
        </p:nvSpPr>
        <p:spPr>
          <a:xfrm>
            <a:off x="4480560" y="2999232"/>
            <a:ext cx="45720" cy="402336"/>
          </a:xfrm>
          <a:prstGeom prst="rect">
            <a:avLst/>
          </a:prstGeom>
          <a:solidFill>
            <a:srgbClr val="00C9A7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617720" y="30175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Peptides in skincare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80560" y="3456432"/>
            <a:ext cx="3383280" cy="402336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32" name="Shape 30"/>
          <p:cNvSpPr/>
          <p:nvPr/>
        </p:nvSpPr>
        <p:spPr>
          <a:xfrm>
            <a:off x="4480560" y="3456432"/>
            <a:ext cx="45720" cy="402336"/>
          </a:xfrm>
          <a:prstGeom prst="rect">
            <a:avLst/>
          </a:prstGeom>
          <a:solidFill>
            <a:srgbClr val="00C9A7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3474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Under eye routines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0" y="1508760"/>
            <a:ext cx="3794760" cy="5029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5" name="Text 33"/>
          <p:cNvSpPr/>
          <p:nvPr/>
        </p:nvSpPr>
        <p:spPr>
          <a:xfrm>
            <a:off x="8339328" y="1554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🏛  Cleanser Guide (Pillar)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58200" y="2084832"/>
            <a:ext cx="3383280" cy="402336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37" name="Shape 35"/>
          <p:cNvSpPr/>
          <p:nvPr/>
        </p:nvSpPr>
        <p:spPr>
          <a:xfrm>
            <a:off x="8458200" y="2084832"/>
            <a:ext cx="45720" cy="402336"/>
          </a:xfrm>
          <a:prstGeom prst="rect">
            <a:avLst/>
          </a:prstGeom>
          <a:solidFill>
            <a:srgbClr val="00C9A7">
              <a:alpha val="6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595360" y="2103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Double cleansing method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458200" y="2542032"/>
            <a:ext cx="3383280" cy="402336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40" name="Shape 38"/>
          <p:cNvSpPr/>
          <p:nvPr/>
        </p:nvSpPr>
        <p:spPr>
          <a:xfrm>
            <a:off x="8458200" y="2542032"/>
            <a:ext cx="45720" cy="402336"/>
          </a:xfrm>
          <a:prstGeom prst="rect">
            <a:avLst/>
          </a:prstGeom>
          <a:solidFill>
            <a:srgbClr val="00C9A7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59536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pH-balanced cleanser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458200" y="2999232"/>
            <a:ext cx="3383280" cy="402336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43" name="Shape 41"/>
          <p:cNvSpPr/>
          <p:nvPr/>
        </p:nvSpPr>
        <p:spPr>
          <a:xfrm>
            <a:off x="8458200" y="2999232"/>
            <a:ext cx="45720" cy="402336"/>
          </a:xfrm>
          <a:prstGeom prst="rect">
            <a:avLst/>
          </a:prstGeom>
          <a:solidFill>
            <a:srgbClr val="00C9A7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595360" y="30175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Micellar vs foam cleanser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458200" y="3456432"/>
            <a:ext cx="3383280" cy="402336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46" name="Shape 44"/>
          <p:cNvSpPr/>
          <p:nvPr/>
        </p:nvSpPr>
        <p:spPr>
          <a:xfrm>
            <a:off x="8458200" y="3456432"/>
            <a:ext cx="45720" cy="402336"/>
          </a:xfrm>
          <a:prstGeom prst="rect">
            <a:avLst/>
          </a:prstGeom>
          <a:solidFill>
            <a:srgbClr val="00C9A7">
              <a:alpha val="6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595360" y="3474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Best cleanser for acne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74320" y="4187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93D"/>
                </a:solidFill>
              </a:rPr>
              <a:t>MONTHLY BLOG CALENDAR — TARGET 8–12 ARTICLES/MONTH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4590288"/>
            <a:ext cx="2304288" cy="2084832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74320" y="4590288"/>
            <a:ext cx="2304288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51" name="Text 49"/>
          <p:cNvSpPr/>
          <p:nvPr/>
        </p:nvSpPr>
        <p:spPr>
          <a:xfrm>
            <a:off x="1645920" y="4663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4/mo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84048" y="4617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How-To Guides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84048" y="507492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How to build a basic 4-step skincare routine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651760" y="4590288"/>
            <a:ext cx="2304288" cy="2084832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651760" y="4590288"/>
            <a:ext cx="2304288" cy="45720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56" name="Text 54"/>
          <p:cNvSpPr/>
          <p:nvPr/>
        </p:nvSpPr>
        <p:spPr>
          <a:xfrm>
            <a:off x="4023360" y="4663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DD3FC"/>
                </a:solidFill>
              </a:rPr>
              <a:t>3/mo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761488" y="4617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Ingredient Deep-Dives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2761488" y="507492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What does hyaluronic acid actually do?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029200" y="4590288"/>
            <a:ext cx="2304288" cy="2084832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029200" y="4590288"/>
            <a:ext cx="2304288" cy="457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61" name="Text 59"/>
          <p:cNvSpPr/>
          <p:nvPr/>
        </p:nvSpPr>
        <p:spPr>
          <a:xfrm>
            <a:off x="6400800" y="4663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93D"/>
                </a:solidFill>
              </a:rPr>
              <a:t>2/mo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138928" y="4617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 Comparisons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138928" y="507492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Face scrub vs exfoliating toner: which is better?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406640" y="4590288"/>
            <a:ext cx="2304288" cy="2084832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406640" y="4590288"/>
            <a:ext cx="2304288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6" name="Text 64"/>
          <p:cNvSpPr/>
          <p:nvPr/>
        </p:nvSpPr>
        <p:spPr>
          <a:xfrm>
            <a:off x="8778240" y="4663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2/mo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516368" y="4617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Myth-Busting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516368" y="507492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5 sunscreen myths debunked by science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784080" y="4590288"/>
            <a:ext cx="2304288" cy="2084832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9784080" y="4590288"/>
            <a:ext cx="2304288" cy="45720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71" name="Text 69"/>
          <p:cNvSpPr/>
          <p:nvPr/>
        </p:nvSpPr>
        <p:spPr>
          <a:xfrm>
            <a:off x="11155680" y="4663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B5FD"/>
                </a:solidFill>
              </a:rPr>
              <a:t>1/mo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9893808" y="4617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Routine Guides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9893808" y="507492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Morning skincare routine for Indian climate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</a:rPr>
              <a:t>PHASE 2 — MONTH 1–6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Social Media Playbook — Platform-Wise Strategy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2267712" cy="5577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78992"/>
            <a:ext cx="2267712" cy="54864"/>
          </a:xfrm>
          <a:prstGeom prst="rect">
            <a:avLst/>
          </a:prstGeom>
          <a:solidFill>
            <a:srgbClr val="E4405F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117043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📸  Instagram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" y="1600200"/>
            <a:ext cx="2084832" cy="310896"/>
          </a:xfrm>
          <a:prstGeom prst="rect">
            <a:avLst/>
          </a:prstGeom>
          <a:solidFill>
            <a:srgbClr val="E4405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609344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405F"/>
                </a:solidFill>
              </a:rPr>
              <a:t>Brand Awareness + Community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195681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Frequency: 1 post/day + 5 stories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2608" y="226771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Content Mix: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" y="2542032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Skincare tips carousels (saves = reach)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2608" y="297180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Before/after ingredient explainers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2608" y="3401568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Reels: 15–30s skincare hacks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2608" y="3831336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Polls &amp; quizzes in stories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2608" y="4261104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User-generated content reposts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2608" y="4773168"/>
            <a:ext cx="2084832" cy="1719072"/>
          </a:xfrm>
          <a:prstGeom prst="rect">
            <a:avLst/>
          </a:prstGeom>
          <a:solidFill>
            <a:srgbClr val="E4405F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846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4405F"/>
                </a:solidFill>
              </a:rPr>
              <a:t>💡 Pro Tip: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51206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Reels get 3x the reach of static posts. Lead with educational hooks.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96896" y="1078992"/>
            <a:ext cx="2267712" cy="5577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96896" y="1078992"/>
            <a:ext cx="2267712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2688336" y="117043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▶️  YouTube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688336" y="1600200"/>
            <a:ext cx="2084832" cy="310896"/>
          </a:xfrm>
          <a:prstGeom prst="rect">
            <a:avLst/>
          </a:prstGeom>
          <a:solidFill>
            <a:srgbClr val="FF0000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688336" y="1609344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0000"/>
                </a:solidFill>
              </a:rPr>
              <a:t>Long-Form SEO + Authority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88336" y="195681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Frequency: 1 video/week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688336" y="226771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Content Mix: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88336" y="2542032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Full skincare routine walkthroughs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88336" y="297180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Ingredient science deep-dives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688336" y="3401568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Product unboxing + honest reviews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688336" y="3831336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"Does X actually work?" format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88336" y="4261104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Dermat-style explainer videos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688336" y="4773168"/>
            <a:ext cx="2084832" cy="1719072"/>
          </a:xfrm>
          <a:prstGeom prst="rect">
            <a:avLst/>
          </a:prstGeom>
          <a:solidFill>
            <a:srgbClr val="FF0000">
              <a:alpha val="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761488" y="4846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0000"/>
                </a:solidFill>
              </a:rPr>
              <a:t>💡 Pro Tip: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61488" y="51206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YouTube is the 2nd largest search engine. Optimize titles exactly like Google SEO.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92624" y="1078992"/>
            <a:ext cx="2267712" cy="5577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92624" y="1078992"/>
            <a:ext cx="2267712" cy="54864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37" name="Text 35"/>
          <p:cNvSpPr/>
          <p:nvPr/>
        </p:nvSpPr>
        <p:spPr>
          <a:xfrm>
            <a:off x="5084064" y="117043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👥  Facebook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84064" y="1600200"/>
            <a:ext cx="2084832" cy="310896"/>
          </a:xfrm>
          <a:prstGeom prst="rect">
            <a:avLst/>
          </a:prstGeom>
          <a:solidFill>
            <a:srgbClr val="1877F2">
              <a:alpha val="1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084064" y="1609344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77F2"/>
                </a:solidFill>
              </a:rPr>
              <a:t>Community Building + Retargeting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84064" y="195681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Frequency: 4 posts/week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84064" y="226771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Content Mix: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84064" y="2542032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Create a skincare community group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084064" y="297180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Share blog articles for traffic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084064" y="3401568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Facebook Live Q&amp;A sessions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084064" y="3831336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Polls: 'What's your skin concern?'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084064" y="4261104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Behind the scenes R&amp;D content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084064" y="4773168"/>
            <a:ext cx="2084832" cy="1719072"/>
          </a:xfrm>
          <a:prstGeom prst="rect">
            <a:avLst/>
          </a:prstGeom>
          <a:solidFill>
            <a:srgbClr val="1877F2">
              <a:alpha val="8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157216" y="4846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77F2"/>
                </a:solidFill>
              </a:rPr>
              <a:t>💡 Pro Tip: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57216" y="51206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Facebook Groups build loyalty. Start 'DaMembrane Skincare Club' for early adopters.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388352" y="1078992"/>
            <a:ext cx="2267712" cy="5577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388352" y="1078992"/>
            <a:ext cx="2267712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52" name="Text 50"/>
          <p:cNvSpPr/>
          <p:nvPr/>
        </p:nvSpPr>
        <p:spPr>
          <a:xfrm>
            <a:off x="7479792" y="117043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💼  LinkedIn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479792" y="1600200"/>
            <a:ext cx="2084832" cy="310896"/>
          </a:xfrm>
          <a:prstGeom prst="rect">
            <a:avLst/>
          </a:prstGeom>
          <a:solidFill>
            <a:srgbClr val="0A66C2">
              <a:alpha val="1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479792" y="1609344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66C2"/>
                </a:solidFill>
              </a:rPr>
              <a:t>Brand Credibility + B2B PR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479792" y="195681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Frequency: 3 posts/week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479792" y="226771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Content Mix: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479792" y="2542032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Founder's journey content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479792" y="297180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Skincare industry insights &amp; data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479792" y="3401568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R&amp;D process transparency posts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479792" y="3831336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Press coverage sharing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479792" y="4261104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"Building DaMembrane" series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479792" y="4773168"/>
            <a:ext cx="2084832" cy="1719072"/>
          </a:xfrm>
          <a:prstGeom prst="rect">
            <a:avLst/>
          </a:prstGeom>
          <a:solidFill>
            <a:srgbClr val="0A66C2">
              <a:alpha val="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7552944" y="4846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66C2"/>
                </a:solidFill>
              </a:rPr>
              <a:t>💡 Pro Tip: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552944" y="51206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LinkedIn builds investor &amp; press confidence. The 'honest brand' angle performs well here.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9784080" y="1078992"/>
            <a:ext cx="2267712" cy="5577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9784080" y="1078992"/>
            <a:ext cx="2267712" cy="54864"/>
          </a:xfrm>
          <a:prstGeom prst="rect">
            <a:avLst/>
          </a:prstGeom>
          <a:solidFill>
            <a:srgbClr val="1DA1F2"/>
          </a:solidFill>
          <a:ln/>
        </p:spPr>
      </p:sp>
      <p:sp>
        <p:nvSpPr>
          <p:cNvPr id="67" name="Text 65"/>
          <p:cNvSpPr/>
          <p:nvPr/>
        </p:nvSpPr>
        <p:spPr>
          <a:xfrm>
            <a:off x="9875520" y="117043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🐦  Twitter/X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9875520" y="1600200"/>
            <a:ext cx="2084832" cy="310896"/>
          </a:xfrm>
          <a:prstGeom prst="rect">
            <a:avLst/>
          </a:prstGeom>
          <a:solidFill>
            <a:srgbClr val="1DA1F2">
              <a:alpha val="15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9875520" y="1609344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A1F2"/>
                </a:solidFill>
              </a:rPr>
              <a:t>Real-Time Engagement + Trends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9875520" y="195681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Frequency: 5–7 tweets/day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9875520" y="226771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Content Mix: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875520" y="2542032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Quick skincare myth busters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9875520" y="297180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Ingredient of the week threads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9875520" y="3401568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Engage with skincare influencers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9875520" y="3831336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Join trending skincare conversations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9875520" y="4261104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▸  Retweet dermat/expert opinions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9875520" y="4773168"/>
            <a:ext cx="2084832" cy="1719072"/>
          </a:xfrm>
          <a:prstGeom prst="rect">
            <a:avLst/>
          </a:prstGeom>
          <a:solidFill>
            <a:srgbClr val="1DA1F2">
              <a:alpha val="8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9948672" y="4846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A1F2"/>
                </a:solidFill>
              </a:rPr>
              <a:t>💡 Pro Tip: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9948672" y="51206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448"/>
                </a:solidFill>
              </a:rPr>
              <a:t>Twitter drives niche community conversations. Use #SkincareIndia #SkincareTips consistently.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2E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</a:rPr>
              <a:t>PHASE 3 — MONTH 2–6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Zero-Budget Link Building &amp; Domain Authority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794760" cy="2542032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379476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527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📰  HARO / Qwoted Outreach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73352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Sign up for Help A Reporter Out (HARO). Respond to beauty &amp; wellness journalists with expert skincare quotes. Gets you cited in Vogue, HT, Times of India — completely free.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3227832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0C9A7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32278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Effort: Low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463040" y="3227832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00C9A7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3227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Impact: High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51960" y="1143000"/>
            <a:ext cx="3794760" cy="2542032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1143000"/>
            <a:ext cx="379476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2527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✍️  Guest Posting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1673352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Write expert articles for beauty blogs like BeautyHooked, StyleCraze, Femina, Pinkvilla. Include 1 contextual link to DaMembrane. Focus on ingredient education content.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0" y="3227832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FFD93D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32278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Effort: Medium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40680" y="3227832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00C9A7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3227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Impact: High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229600" y="1143000"/>
            <a:ext cx="3794760" cy="2542032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0" y="1143000"/>
            <a:ext cx="379476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3" name="Text 21"/>
          <p:cNvSpPr/>
          <p:nvPr/>
        </p:nvSpPr>
        <p:spPr>
          <a:xfrm>
            <a:off x="8366760" y="12527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💬  Reddit &amp; Quora SEO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66760" y="1673352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Answer skincare questions on r/IndianSkincareAddicts and Quora. Don't spam — provide genuine value. Include brand link only where naturally relevant.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366760" y="3227832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0C9A7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32278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Effort: Low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418320" y="3227832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FFD93D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418320" y="3227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Impact: Medium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3867912"/>
            <a:ext cx="3794760" cy="2542032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867912"/>
            <a:ext cx="379476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9776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🤝  Micro-Influencer Collaboration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1480" y="4398264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Partner with 50K–200K skincare creators for product gifting (no payment). Ask for blog post or YouTube review with a dofollow link. 10x more cost-effective than paid ads.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5952744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FFD93D">
              <a:alpha val="3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59527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Effort: Medium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463040" y="5952744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FF6B6B">
              <a:alpha val="3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463040" y="59527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Impact: Very High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251960" y="3867912"/>
            <a:ext cx="3794760" cy="2542032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51960" y="3867912"/>
            <a:ext cx="379476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9" name="Text 37"/>
          <p:cNvSpPr/>
          <p:nvPr/>
        </p:nvSpPr>
        <p:spPr>
          <a:xfrm>
            <a:off x="4389120" y="39776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🔗  Broken Link Building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389120" y="4398264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Use Ahrefs Free / Check My Links to find broken links on beauty sites. Offer your content as a replacement. Works especially well for ingredient guides.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89120" y="5952744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FFD93D">
              <a:alpha val="3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389120" y="59527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Effort: Medium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40680" y="5952744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FFD93D">
              <a:alpha val="3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440680" y="59527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Impact: Medium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229600" y="3867912"/>
            <a:ext cx="3794760" cy="2542032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229600" y="3867912"/>
            <a:ext cx="379476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7" name="Text 45"/>
          <p:cNvSpPr/>
          <p:nvPr/>
        </p:nvSpPr>
        <p:spPr>
          <a:xfrm>
            <a:off x="8366760" y="39776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Resource Page Link Building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366760" y="4398264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Find 'best skincare resources' pages on Google. Email site owners suggesting DaMembrane blog as a quality resource. Personalize each email — generic ones get ignored.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366760" y="5952744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0C9A7">
              <a:alpha val="3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366760" y="59527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Effort: Low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9418320" y="5952744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FFD93D">
              <a:alpha val="3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9418320" y="59527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Impact: Medium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</a:rPr>
              <a:t>ACTION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90-Day Detailed Roadmap — Week by Week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2834640" cy="5577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78992"/>
            <a:ext cx="283464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078992"/>
            <a:ext cx="2834640" cy="804672"/>
          </a:xfrm>
          <a:prstGeom prst="rect">
            <a:avLst/>
          </a:prstGeom>
          <a:solidFill>
            <a:srgbClr val="00C9A7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111556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9A7"/>
                </a:solidFill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141732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Weeks 1–2: Foundation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" y="199339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" y="2084832"/>
            <a:ext cx="201168" cy="20116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19933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Shopify launch: SEO meta tags, sitemap, GSC setup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" y="272491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" y="2816352"/>
            <a:ext cx="201168" cy="20116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27249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Install Google Analytics 4 + Search Console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8328" y="345643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17" name="Shape 15"/>
          <p:cNvSpPr/>
          <p:nvPr/>
        </p:nvSpPr>
        <p:spPr>
          <a:xfrm>
            <a:off x="338328" y="3547872"/>
            <a:ext cx="201168" cy="20116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" y="34564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Keyword research: 100+ target keywords mapped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8328" y="418795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20" name="Shape 18"/>
          <p:cNvSpPr/>
          <p:nvPr/>
        </p:nvSpPr>
        <p:spPr>
          <a:xfrm>
            <a:off x="338328" y="4279392"/>
            <a:ext cx="201168" cy="20116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" y="41879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Set up all social media profiles with SEO bios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8328" y="491947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23" name="Shape 21"/>
          <p:cNvSpPr/>
          <p:nvPr/>
        </p:nvSpPr>
        <p:spPr>
          <a:xfrm>
            <a:off x="338328" y="5010912"/>
            <a:ext cx="201168" cy="20116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" y="49194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Competitor content audit — find content gaps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8328" y="565099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26" name="Shape 24"/>
          <p:cNvSpPr/>
          <p:nvPr/>
        </p:nvSpPr>
        <p:spPr>
          <a:xfrm>
            <a:off x="338328" y="5742432"/>
            <a:ext cx="201168" cy="20116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" y="56509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Write 5 foundational product description copies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27832" y="1078992"/>
            <a:ext cx="2834640" cy="5577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27832" y="1078992"/>
            <a:ext cx="2834640" cy="54864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0" name="Shape 28"/>
          <p:cNvSpPr/>
          <p:nvPr/>
        </p:nvSpPr>
        <p:spPr>
          <a:xfrm>
            <a:off x="3227832" y="1078992"/>
            <a:ext cx="2834640" cy="804672"/>
          </a:xfrm>
          <a:prstGeom prst="rect">
            <a:avLst/>
          </a:prstGeom>
          <a:solidFill>
            <a:srgbClr val="FFD93D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337560" y="111556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93D"/>
                </a:solidFill>
              </a:rPr>
              <a:t>PHASE 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37560" y="141732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Weeks 3–6: Content Engine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37560" y="199339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4" name="Shape 32"/>
          <p:cNvSpPr/>
          <p:nvPr/>
        </p:nvSpPr>
        <p:spPr>
          <a:xfrm>
            <a:off x="3337560" y="2084832"/>
            <a:ext cx="201168" cy="201168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35" name="Text 33"/>
          <p:cNvSpPr/>
          <p:nvPr/>
        </p:nvSpPr>
        <p:spPr>
          <a:xfrm>
            <a:off x="3611880" y="19933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Publish 3 pillar pages (Sunscreen, Anti-Aging, Cleanser)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37560" y="272491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7" name="Shape 35"/>
          <p:cNvSpPr/>
          <p:nvPr/>
        </p:nvSpPr>
        <p:spPr>
          <a:xfrm>
            <a:off x="3337560" y="2816352"/>
            <a:ext cx="201168" cy="201168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38" name="Text 36"/>
          <p:cNvSpPr/>
          <p:nvPr/>
        </p:nvSpPr>
        <p:spPr>
          <a:xfrm>
            <a:off x="3611880" y="27249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Launch Instagram + YouTube with first 10 posts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37560" y="345643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40" name="Shape 38"/>
          <p:cNvSpPr/>
          <p:nvPr/>
        </p:nvSpPr>
        <p:spPr>
          <a:xfrm>
            <a:off x="3337560" y="3547872"/>
            <a:ext cx="201168" cy="201168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41" name="Text 39"/>
          <p:cNvSpPr/>
          <p:nvPr/>
        </p:nvSpPr>
        <p:spPr>
          <a:xfrm>
            <a:off x="3611880" y="34564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Start HARO outreach — target 5 publications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337560" y="418795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43" name="Shape 41"/>
          <p:cNvSpPr/>
          <p:nvPr/>
        </p:nvSpPr>
        <p:spPr>
          <a:xfrm>
            <a:off x="3337560" y="4279392"/>
            <a:ext cx="201168" cy="201168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44" name="Text 42"/>
          <p:cNvSpPr/>
          <p:nvPr/>
        </p:nvSpPr>
        <p:spPr>
          <a:xfrm>
            <a:off x="3611880" y="41879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Begin guest post outreach (8–10 targets)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337560" y="491947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46" name="Shape 44"/>
          <p:cNvSpPr/>
          <p:nvPr/>
        </p:nvSpPr>
        <p:spPr>
          <a:xfrm>
            <a:off x="3337560" y="5010912"/>
            <a:ext cx="201168" cy="201168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47" name="Text 45"/>
          <p:cNvSpPr/>
          <p:nvPr/>
        </p:nvSpPr>
        <p:spPr>
          <a:xfrm>
            <a:off x="3611880" y="49194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Create Pinterest account with product images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337560" y="565099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49" name="Shape 47"/>
          <p:cNvSpPr/>
          <p:nvPr/>
        </p:nvSpPr>
        <p:spPr>
          <a:xfrm>
            <a:off x="3337560" y="5742432"/>
            <a:ext cx="201168" cy="201168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50" name="Text 48"/>
          <p:cNvSpPr/>
          <p:nvPr/>
        </p:nvSpPr>
        <p:spPr>
          <a:xfrm>
            <a:off x="3611880" y="56509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Reddit &amp; Quora community engagement begins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27064" y="1078992"/>
            <a:ext cx="2834640" cy="5577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227064" y="1078992"/>
            <a:ext cx="2834640" cy="5486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53" name="Shape 51"/>
          <p:cNvSpPr/>
          <p:nvPr/>
        </p:nvSpPr>
        <p:spPr>
          <a:xfrm>
            <a:off x="6227064" y="1078992"/>
            <a:ext cx="2834640" cy="804672"/>
          </a:xfrm>
          <a:prstGeom prst="rect">
            <a:avLst/>
          </a:prstGeom>
          <a:solidFill>
            <a:srgbClr val="7DD3FC">
              <a:alpha val="12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336792" y="111556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DD3FC"/>
                </a:solidFill>
              </a:rPr>
              <a:t>PHASE 3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36792" y="141732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Weeks 7–10: Scale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336792" y="199339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57" name="Shape 55"/>
          <p:cNvSpPr/>
          <p:nvPr/>
        </p:nvSpPr>
        <p:spPr>
          <a:xfrm>
            <a:off x="6336792" y="2084832"/>
            <a:ext cx="201168" cy="201168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58" name="Text 56"/>
          <p:cNvSpPr/>
          <p:nvPr/>
        </p:nvSpPr>
        <p:spPr>
          <a:xfrm>
            <a:off x="6611112" y="19933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8–10 blog articles published, internal linking done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336792" y="272491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60" name="Shape 58"/>
          <p:cNvSpPr/>
          <p:nvPr/>
        </p:nvSpPr>
        <p:spPr>
          <a:xfrm>
            <a:off x="6336792" y="2816352"/>
            <a:ext cx="201168" cy="201168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61" name="Text 59"/>
          <p:cNvSpPr/>
          <p:nvPr/>
        </p:nvSpPr>
        <p:spPr>
          <a:xfrm>
            <a:off x="6611112" y="27249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First micro-influencer product gifting campaign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336792" y="345643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63" name="Shape 61"/>
          <p:cNvSpPr/>
          <p:nvPr/>
        </p:nvSpPr>
        <p:spPr>
          <a:xfrm>
            <a:off x="6336792" y="3547872"/>
            <a:ext cx="201168" cy="201168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64" name="Text 62"/>
          <p:cNvSpPr/>
          <p:nvPr/>
        </p:nvSpPr>
        <p:spPr>
          <a:xfrm>
            <a:off x="6611112" y="34564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YouTube Shorts + Instagram Reels consistency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336792" y="418795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66" name="Shape 64"/>
          <p:cNvSpPr/>
          <p:nvPr/>
        </p:nvSpPr>
        <p:spPr>
          <a:xfrm>
            <a:off x="6336792" y="4279392"/>
            <a:ext cx="201168" cy="201168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67" name="Text 65"/>
          <p:cNvSpPr/>
          <p:nvPr/>
        </p:nvSpPr>
        <p:spPr>
          <a:xfrm>
            <a:off x="6611112" y="41879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Track GSC impressions — optimize underperformers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336792" y="491947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69" name="Shape 67"/>
          <p:cNvSpPr/>
          <p:nvPr/>
        </p:nvSpPr>
        <p:spPr>
          <a:xfrm>
            <a:off x="6336792" y="5010912"/>
            <a:ext cx="201168" cy="201168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70" name="Text 68"/>
          <p:cNvSpPr/>
          <p:nvPr/>
        </p:nvSpPr>
        <p:spPr>
          <a:xfrm>
            <a:off x="6611112" y="49194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Build first 15–20 quality backlinks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336792" y="565099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72" name="Shape 70"/>
          <p:cNvSpPr/>
          <p:nvPr/>
        </p:nvSpPr>
        <p:spPr>
          <a:xfrm>
            <a:off x="6336792" y="5742432"/>
            <a:ext cx="201168" cy="201168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73" name="Text 71"/>
          <p:cNvSpPr/>
          <p:nvPr/>
        </p:nvSpPr>
        <p:spPr>
          <a:xfrm>
            <a:off x="6611112" y="56509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Launch email capture with skincare quiz lead magnet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9226296" y="1078992"/>
            <a:ext cx="2834640" cy="5577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9226296" y="1078992"/>
            <a:ext cx="283464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6" name="Shape 74"/>
          <p:cNvSpPr/>
          <p:nvPr/>
        </p:nvSpPr>
        <p:spPr>
          <a:xfrm>
            <a:off x="9226296" y="1078992"/>
            <a:ext cx="2834640" cy="804672"/>
          </a:xfrm>
          <a:prstGeom prst="rect">
            <a:avLst/>
          </a:prstGeom>
          <a:solidFill>
            <a:srgbClr val="FF6B6B">
              <a:alpha val="12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9336024" y="111556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6B"/>
                </a:solidFill>
              </a:rPr>
              <a:t>PHASE 4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9336024" y="141732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Weeks 11–13: Optimize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9336024" y="199339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80" name="Shape 78"/>
          <p:cNvSpPr/>
          <p:nvPr/>
        </p:nvSpPr>
        <p:spPr>
          <a:xfrm>
            <a:off x="9336024" y="2084832"/>
            <a:ext cx="201168" cy="20116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1" name="Text 79"/>
          <p:cNvSpPr/>
          <p:nvPr/>
        </p:nvSpPr>
        <p:spPr>
          <a:xfrm>
            <a:off x="9610344" y="19933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Monthly SEO audit — fix technical issues found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336024" y="272491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83" name="Shape 81"/>
          <p:cNvSpPr/>
          <p:nvPr/>
        </p:nvSpPr>
        <p:spPr>
          <a:xfrm>
            <a:off x="9336024" y="2816352"/>
            <a:ext cx="201168" cy="20116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4" name="Text 82"/>
          <p:cNvSpPr/>
          <p:nvPr/>
        </p:nvSpPr>
        <p:spPr>
          <a:xfrm>
            <a:off x="9610344" y="27249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Refresh top 3 blogs with new data &amp; internal links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9336024" y="345643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86" name="Shape 84"/>
          <p:cNvSpPr/>
          <p:nvPr/>
        </p:nvSpPr>
        <p:spPr>
          <a:xfrm>
            <a:off x="9336024" y="3547872"/>
            <a:ext cx="201168" cy="20116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7" name="Text 85"/>
          <p:cNvSpPr/>
          <p:nvPr/>
        </p:nvSpPr>
        <p:spPr>
          <a:xfrm>
            <a:off x="9610344" y="34564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Analyze GSC: which keywords moved to page 2?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9336024" y="418795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89" name="Shape 87"/>
          <p:cNvSpPr/>
          <p:nvPr/>
        </p:nvSpPr>
        <p:spPr>
          <a:xfrm>
            <a:off x="9336024" y="4279392"/>
            <a:ext cx="201168" cy="20116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0" name="Text 88"/>
          <p:cNvSpPr/>
          <p:nvPr/>
        </p:nvSpPr>
        <p:spPr>
          <a:xfrm>
            <a:off x="9610344" y="41879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Publish first 'results-based' case study blog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9336024" y="491947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92" name="Shape 90"/>
          <p:cNvSpPr/>
          <p:nvPr/>
        </p:nvSpPr>
        <p:spPr>
          <a:xfrm>
            <a:off x="9336024" y="5010912"/>
            <a:ext cx="201168" cy="20116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3" name="Text 91"/>
          <p:cNvSpPr/>
          <p:nvPr/>
        </p:nvSpPr>
        <p:spPr>
          <a:xfrm>
            <a:off x="9610344" y="49194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Begin YouTube SEO optimization (tags, chapters)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9336024" y="5650992"/>
            <a:ext cx="2615184" cy="658368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95" name="Shape 93"/>
          <p:cNvSpPr/>
          <p:nvPr/>
        </p:nvSpPr>
        <p:spPr>
          <a:xfrm>
            <a:off x="9336024" y="5742432"/>
            <a:ext cx="201168" cy="20116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6" name="Text 94"/>
          <p:cNvSpPr/>
          <p:nvPr/>
        </p:nvSpPr>
        <p:spPr>
          <a:xfrm>
            <a:off x="9610344" y="56509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448"/>
                </a:solidFill>
              </a:rPr>
              <a:t>Report: traffic, rankings, backlinks, social growth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2E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</a:rPr>
              <a:t>MEASUREMENT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KPIs, Tracking Tools &amp; Monthly Reporting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SEO KPIs — Track Weekly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2743200" cy="3657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5727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Metric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63240" y="1554480"/>
            <a:ext cx="1554480" cy="3657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9" name="Text 7"/>
          <p:cNvSpPr/>
          <p:nvPr/>
        </p:nvSpPr>
        <p:spPr>
          <a:xfrm>
            <a:off x="3136392" y="15727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Month 1 Target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1554480" cy="3657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1" name="Text 9"/>
          <p:cNvSpPr/>
          <p:nvPr/>
        </p:nvSpPr>
        <p:spPr>
          <a:xfrm>
            <a:off x="4736592" y="15727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Month 3 Target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1554480" cy="3657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3" name="Text 11"/>
          <p:cNvSpPr/>
          <p:nvPr/>
        </p:nvSpPr>
        <p:spPr>
          <a:xfrm>
            <a:off x="6336792" y="15727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Month 6 Target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984248"/>
            <a:ext cx="2743200" cy="438912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002536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Organic Sessions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63240" y="1984248"/>
            <a:ext cx="1554480" cy="438912"/>
          </a:xfrm>
          <a:prstGeom prst="rect">
            <a:avLst/>
          </a:prstGeom>
          <a:solidFill>
            <a:srgbClr val="102235"/>
          </a:solidFill>
          <a:ln/>
        </p:spPr>
      </p:sp>
      <p:sp>
        <p:nvSpPr>
          <p:cNvPr id="17" name="Text 15"/>
          <p:cNvSpPr/>
          <p:nvPr/>
        </p:nvSpPr>
        <p:spPr>
          <a:xfrm>
            <a:off x="3154680" y="2002536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200–500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984248"/>
            <a:ext cx="1554480" cy="438912"/>
          </a:xfrm>
          <a:prstGeom prst="rect">
            <a:avLst/>
          </a:prstGeom>
          <a:solidFill>
            <a:srgbClr val="102235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002536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2,000+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1984248"/>
            <a:ext cx="1554480" cy="438912"/>
          </a:xfrm>
          <a:prstGeom prst="rect">
            <a:avLst/>
          </a:prstGeom>
          <a:solidFill>
            <a:srgbClr val="102235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002536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10,000+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459736"/>
            <a:ext cx="2743200" cy="438912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478024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Keywords in Top 50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63240" y="2459736"/>
            <a:ext cx="1554480" cy="438912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25" name="Text 23"/>
          <p:cNvSpPr/>
          <p:nvPr/>
        </p:nvSpPr>
        <p:spPr>
          <a:xfrm>
            <a:off x="3154680" y="2478024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20+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459736"/>
            <a:ext cx="1554480" cy="438912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478024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100+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2459736"/>
            <a:ext cx="1554480" cy="438912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2478024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300+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935224"/>
            <a:ext cx="2743200" cy="438912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295351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Keywords in Top 10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063240" y="2935224"/>
            <a:ext cx="1554480" cy="438912"/>
          </a:xfrm>
          <a:prstGeom prst="rect">
            <a:avLst/>
          </a:prstGeom>
          <a:solidFill>
            <a:srgbClr val="102235"/>
          </a:solidFill>
          <a:ln/>
        </p:spPr>
      </p:sp>
      <p:sp>
        <p:nvSpPr>
          <p:cNvPr id="33" name="Text 31"/>
          <p:cNvSpPr/>
          <p:nvPr/>
        </p:nvSpPr>
        <p:spPr>
          <a:xfrm>
            <a:off x="3154680" y="2953512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3–5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935224"/>
            <a:ext cx="1554480" cy="438912"/>
          </a:xfrm>
          <a:prstGeom prst="rect">
            <a:avLst/>
          </a:prstGeom>
          <a:solidFill>
            <a:srgbClr val="102235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2953512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25+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2935224"/>
            <a:ext cx="1554480" cy="438912"/>
          </a:xfrm>
          <a:prstGeom prst="rect">
            <a:avLst/>
          </a:prstGeom>
          <a:solidFill>
            <a:srgbClr val="102235"/>
          </a:solidFill>
          <a:ln/>
        </p:spPr>
      </p:sp>
      <p:sp>
        <p:nvSpPr>
          <p:cNvPr id="37" name="Text 35"/>
          <p:cNvSpPr/>
          <p:nvPr/>
        </p:nvSpPr>
        <p:spPr>
          <a:xfrm>
            <a:off x="6355080" y="2953512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80+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3410712"/>
            <a:ext cx="2743200" cy="438912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42900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Domain Rating (Ahrefs)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063240" y="3410712"/>
            <a:ext cx="1554480" cy="438912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41" name="Text 39"/>
          <p:cNvSpPr/>
          <p:nvPr/>
        </p:nvSpPr>
        <p:spPr>
          <a:xfrm>
            <a:off x="3154680" y="342900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0–5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3410712"/>
            <a:ext cx="1554480" cy="438912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342900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10+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3410712"/>
            <a:ext cx="1554480" cy="438912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45" name="Text 43"/>
          <p:cNvSpPr/>
          <p:nvPr/>
        </p:nvSpPr>
        <p:spPr>
          <a:xfrm>
            <a:off x="6355080" y="342900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20+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3886200"/>
            <a:ext cx="2743200" cy="438912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390448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Backlinks Acquired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063240" y="3886200"/>
            <a:ext cx="1554480" cy="438912"/>
          </a:xfrm>
          <a:prstGeom prst="rect">
            <a:avLst/>
          </a:prstGeom>
          <a:solidFill>
            <a:srgbClr val="102235"/>
          </a:solidFill>
          <a:ln/>
        </p:spPr>
      </p:sp>
      <p:sp>
        <p:nvSpPr>
          <p:cNvPr id="49" name="Text 47"/>
          <p:cNvSpPr/>
          <p:nvPr/>
        </p:nvSpPr>
        <p:spPr>
          <a:xfrm>
            <a:off x="3154680" y="3904488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10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63440" y="3886200"/>
            <a:ext cx="1554480" cy="438912"/>
          </a:xfrm>
          <a:prstGeom prst="rect">
            <a:avLst/>
          </a:prstGeom>
          <a:solidFill>
            <a:srgbClr val="102235"/>
          </a:solidFill>
          <a:ln/>
        </p:spPr>
      </p:sp>
      <p:sp>
        <p:nvSpPr>
          <p:cNvPr id="51" name="Text 49"/>
          <p:cNvSpPr/>
          <p:nvPr/>
        </p:nvSpPr>
        <p:spPr>
          <a:xfrm>
            <a:off x="4754880" y="3904488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50+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63640" y="3886200"/>
            <a:ext cx="1554480" cy="438912"/>
          </a:xfrm>
          <a:prstGeom prst="rect">
            <a:avLst/>
          </a:prstGeom>
          <a:solidFill>
            <a:srgbClr val="102235"/>
          </a:solidFill>
          <a:ln/>
        </p:spPr>
      </p:sp>
      <p:sp>
        <p:nvSpPr>
          <p:cNvPr id="53" name="Text 51"/>
          <p:cNvSpPr/>
          <p:nvPr/>
        </p:nvSpPr>
        <p:spPr>
          <a:xfrm>
            <a:off x="6355080" y="3904488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150+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74320" y="45262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93D"/>
                </a:solidFill>
              </a:rPr>
              <a:t>Social Media KPIs — Track Monthly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74320" y="4937760"/>
            <a:ext cx="3794760" cy="1719072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74320" y="4937760"/>
            <a:ext cx="3794760" cy="457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57" name="Text 55"/>
          <p:cNvSpPr/>
          <p:nvPr/>
        </p:nvSpPr>
        <p:spPr>
          <a:xfrm>
            <a:off x="411480" y="50292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Instagram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11480" y="5413248"/>
            <a:ext cx="3520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Followers 500 → 5K → 20K | Saves per post &gt; 100 | Story CTR &gt; 3%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251960" y="4937760"/>
            <a:ext cx="3794760" cy="1719072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251960" y="4937760"/>
            <a:ext cx="3794760" cy="457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61" name="Text 59"/>
          <p:cNvSpPr/>
          <p:nvPr/>
        </p:nvSpPr>
        <p:spPr>
          <a:xfrm>
            <a:off x="4389120" y="50292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YouTube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389120" y="5413248"/>
            <a:ext cx="3520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Subscribers 0 → 500 → 2K | Watch time &gt; 300hrs/mo | CTR &gt; 4%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229600" y="4937760"/>
            <a:ext cx="3794760" cy="1719072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229600" y="4937760"/>
            <a:ext cx="3794760" cy="457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65" name="Text 63"/>
          <p:cNvSpPr/>
          <p:nvPr/>
        </p:nvSpPr>
        <p:spPr>
          <a:xfrm>
            <a:off x="8366760" y="50292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Facebook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8366760" y="5413248"/>
            <a:ext cx="3520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Page likes 200 → 2K | Group members 100 → 1K | Post reach 5K+/mo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909560" y="1143000"/>
            <a:ext cx="4069080" cy="5513832"/>
          </a:xfrm>
          <a:prstGeom prst="rect">
            <a:avLst/>
          </a:prstGeom>
          <a:solidFill>
            <a:srgbClr val="16223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8092440" y="126187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🛠  Free Tools Stack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8092440" y="1719072"/>
            <a:ext cx="3703320" cy="749808"/>
          </a:xfrm>
          <a:prstGeom prst="rect">
            <a:avLst/>
          </a:prstGeom>
          <a:solidFill>
            <a:srgbClr val="102235"/>
          </a:solidFill>
          <a:ln/>
        </p:spPr>
      </p:sp>
      <p:sp>
        <p:nvSpPr>
          <p:cNvPr id="70" name="Text 68"/>
          <p:cNvSpPr/>
          <p:nvPr/>
        </p:nvSpPr>
        <p:spPr>
          <a:xfrm>
            <a:off x="8211312" y="1764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93D"/>
                </a:solidFill>
              </a:rPr>
              <a:t>SEO &amp; Rankings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11312" y="20299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Google Search Console, Google Analytics 4, Ubersuggest (free), Keywords Everywhere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092440" y="2523744"/>
            <a:ext cx="3703320" cy="749808"/>
          </a:xfrm>
          <a:prstGeom prst="rect">
            <a:avLst/>
          </a:prstGeom>
          <a:solidFill>
            <a:srgbClr val="102235"/>
          </a:solidFill>
          <a:ln/>
        </p:spPr>
      </p:sp>
      <p:sp>
        <p:nvSpPr>
          <p:cNvPr id="73" name="Text 71"/>
          <p:cNvSpPr/>
          <p:nvPr/>
        </p:nvSpPr>
        <p:spPr>
          <a:xfrm>
            <a:off x="8211312" y="2569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93D"/>
                </a:solidFill>
              </a:rPr>
              <a:t>Keyword Research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211312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Answer The Public, Google Keyword Planner, AlsoAsked.com, Keywordtool.io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092440" y="3328416"/>
            <a:ext cx="3703320" cy="749808"/>
          </a:xfrm>
          <a:prstGeom prst="rect">
            <a:avLst/>
          </a:prstGeom>
          <a:solidFill>
            <a:srgbClr val="102235"/>
          </a:solidFill>
          <a:ln/>
        </p:spPr>
      </p:sp>
      <p:sp>
        <p:nvSpPr>
          <p:cNvPr id="76" name="Text 74"/>
          <p:cNvSpPr/>
          <p:nvPr/>
        </p:nvSpPr>
        <p:spPr>
          <a:xfrm>
            <a:off x="8211312" y="33741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93D"/>
                </a:solidFill>
              </a:rPr>
              <a:t>Content Writing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211312" y="36393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Surfer SEO (limited free), Frase, NeuralText — use for content briefs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8092440" y="4133088"/>
            <a:ext cx="3703320" cy="749808"/>
          </a:xfrm>
          <a:prstGeom prst="rect">
            <a:avLst/>
          </a:prstGeom>
          <a:solidFill>
            <a:srgbClr val="102235"/>
          </a:solidFill>
          <a:ln/>
        </p:spPr>
      </p:sp>
      <p:sp>
        <p:nvSpPr>
          <p:cNvPr id="79" name="Text 77"/>
          <p:cNvSpPr/>
          <p:nvPr/>
        </p:nvSpPr>
        <p:spPr>
          <a:xfrm>
            <a:off x="8211312" y="4178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93D"/>
                </a:solidFill>
              </a:rPr>
              <a:t>Backlink Analysis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8211312" y="444398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Ahrefs Webmaster Tools (free for your site), Moz Link Explorer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8092440" y="4937760"/>
            <a:ext cx="3703320" cy="749808"/>
          </a:xfrm>
          <a:prstGeom prst="rect">
            <a:avLst/>
          </a:prstGeom>
          <a:solidFill>
            <a:srgbClr val="102235"/>
          </a:solidFill>
          <a:ln/>
        </p:spPr>
      </p:sp>
      <p:sp>
        <p:nvSpPr>
          <p:cNvPr id="82" name="Text 80"/>
          <p:cNvSpPr/>
          <p:nvPr/>
        </p:nvSpPr>
        <p:spPr>
          <a:xfrm>
            <a:off x="8211312" y="4983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93D"/>
                </a:solidFill>
              </a:rPr>
              <a:t>Social Media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211312" y="524865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Buffer (free tier), Later, Canva for graphics, CapCut for Reels editing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8092440" y="5742432"/>
            <a:ext cx="3703320" cy="749808"/>
          </a:xfrm>
          <a:prstGeom prst="rect">
            <a:avLst/>
          </a:prstGeom>
          <a:solidFill>
            <a:srgbClr val="102235"/>
          </a:solidFill>
          <a:ln/>
        </p:spPr>
      </p:sp>
      <p:sp>
        <p:nvSpPr>
          <p:cNvPr id="85" name="Text 83"/>
          <p:cNvSpPr/>
          <p:nvPr/>
        </p:nvSpPr>
        <p:spPr>
          <a:xfrm>
            <a:off x="8211312" y="5788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93D"/>
                </a:solidFill>
              </a:rPr>
              <a:t>Technical SEO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8211312" y="60533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Screaming Frog (500 URLs free), PageSpeed Insights, Rich Results Test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00C9A7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FF6B6B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400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9A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078992"/>
            <a:ext cx="9144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Let's Build DaMembrane's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1810512"/>
            <a:ext cx="9144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9A7"/>
                </a:solidFill>
              </a:rPr>
              <a:t>Organic Growth Engine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2724912"/>
            <a:ext cx="36576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063240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3017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Launch Shopify site this week with all SEO basics set up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3931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Set up Google Search Console + Analytics immediately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892040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4846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Finalize keyword master list — 100 keywords in 30 days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063240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12280" y="3017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Publish first 3 blog posts within 2 weeks of launch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3977640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3931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Activate all 5 social platforms with consistent branding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4892040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4846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Begin HARO outreach — target 2 placements by month end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5760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1"/>
                </a:solidFill>
              </a:rPr>
              <a:t>"Don't hype. Go for results."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FA3B1"/>
                </a:solidFill>
              </a:rPr>
              <a:t>This is DaMembrane's promise — and it's also the perfect SEO philosophy.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DaMembrane — SEO &amp; Digital Growth Roadmap</dc:title>
  <dc:subject>PptxGenJS Presentation</dc:subject>
  <dc:creator>Digital Marketing Team</dc:creator>
  <cp:lastModifiedBy>Digital Marketing Team</cp:lastModifiedBy>
  <cp:revision>1</cp:revision>
  <dcterms:created xsi:type="dcterms:W3CDTF">2026-05-17T19:05:21Z</dcterms:created>
  <dcterms:modified xsi:type="dcterms:W3CDTF">2026-05-17T19:05:21Z</dcterms:modified>
</cp:coreProperties>
</file>